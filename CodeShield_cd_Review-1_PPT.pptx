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6" r:id="rId3"/>
    <p:sldId id="267" r:id="rId4"/>
    <p:sldId id="268" r:id="rId5"/>
    <p:sldId id="269" r:id="rId6"/>
    <p:sldId id="270" r:id="rId7"/>
    <p:sldId id="271" r:id="rId8"/>
    <p:sldId id="272" r:id="rId9"/>
    <p:sldId id="273" r:id="rId10"/>
    <p:sldId id="274"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A786B-7166-A840-A4D7-8E686826C1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528C37-2BC7-61B4-67BE-45435F7C8F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838610A-0E36-FB54-AE24-63AB2601142D}"/>
              </a:ext>
            </a:extLst>
          </p:cNvPr>
          <p:cNvSpPr>
            <a:spLocks noGrp="1"/>
          </p:cNvSpPr>
          <p:nvPr>
            <p:ph type="dt" sz="half" idx="10"/>
          </p:nvPr>
        </p:nvSpPr>
        <p:spPr/>
        <p:txBody>
          <a:bodyPr/>
          <a:lstStyle/>
          <a:p>
            <a:fld id="{1AE246E3-605F-4649-AF14-322221BE5F1D}" type="datetimeFigureOut">
              <a:rPr lang="en-IN" smtClean="0"/>
              <a:t>21-09-2026</a:t>
            </a:fld>
            <a:endParaRPr lang="en-IN"/>
          </a:p>
        </p:txBody>
      </p:sp>
      <p:sp>
        <p:nvSpPr>
          <p:cNvPr id="5" name="Footer Placeholder 4">
            <a:extLst>
              <a:ext uri="{FF2B5EF4-FFF2-40B4-BE49-F238E27FC236}">
                <a16:creationId xmlns:a16="http://schemas.microsoft.com/office/drawing/2014/main" id="{CA365075-C0B5-E5B0-64BD-E1F271EA37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6759A2-C988-09BA-0AFC-1B60B3401C9B}"/>
              </a:ext>
            </a:extLst>
          </p:cNvPr>
          <p:cNvSpPr>
            <a:spLocks noGrp="1"/>
          </p:cNvSpPr>
          <p:nvPr>
            <p:ph type="sldNum" sz="quarter" idx="12"/>
          </p:nvPr>
        </p:nvSpPr>
        <p:spPr/>
        <p:txBody>
          <a:bodyPr/>
          <a:lstStyle/>
          <a:p>
            <a:fld id="{9D19D5D5-BBEE-4E0B-A6A5-45BCEF1BBAED}" type="slidenum">
              <a:rPr lang="en-IN" smtClean="0"/>
              <a:t>‹#›</a:t>
            </a:fld>
            <a:endParaRPr lang="en-IN"/>
          </a:p>
        </p:txBody>
      </p:sp>
    </p:spTree>
    <p:extLst>
      <p:ext uri="{BB962C8B-B14F-4D97-AF65-F5344CB8AC3E}">
        <p14:creationId xmlns:p14="http://schemas.microsoft.com/office/powerpoint/2010/main" val="1805661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E967F-5DEE-D644-E350-BC7963B548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6F2E47-A384-8AB6-DBDB-74AFD0FAA1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BDF82C-9EFA-B04A-FDF3-2265F5175C2B}"/>
              </a:ext>
            </a:extLst>
          </p:cNvPr>
          <p:cNvSpPr>
            <a:spLocks noGrp="1"/>
          </p:cNvSpPr>
          <p:nvPr>
            <p:ph type="dt" sz="half" idx="10"/>
          </p:nvPr>
        </p:nvSpPr>
        <p:spPr/>
        <p:txBody>
          <a:bodyPr/>
          <a:lstStyle/>
          <a:p>
            <a:fld id="{1AE246E3-605F-4649-AF14-322221BE5F1D}" type="datetimeFigureOut">
              <a:rPr lang="en-IN" smtClean="0"/>
              <a:t>21-09-2026</a:t>
            </a:fld>
            <a:endParaRPr lang="en-IN"/>
          </a:p>
        </p:txBody>
      </p:sp>
      <p:sp>
        <p:nvSpPr>
          <p:cNvPr id="5" name="Footer Placeholder 4">
            <a:extLst>
              <a:ext uri="{FF2B5EF4-FFF2-40B4-BE49-F238E27FC236}">
                <a16:creationId xmlns:a16="http://schemas.microsoft.com/office/drawing/2014/main" id="{2F2D9F35-0D42-3F83-4232-6AD61E3719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729A9D-104F-8575-3ABA-3D4E199757A3}"/>
              </a:ext>
            </a:extLst>
          </p:cNvPr>
          <p:cNvSpPr>
            <a:spLocks noGrp="1"/>
          </p:cNvSpPr>
          <p:nvPr>
            <p:ph type="sldNum" sz="quarter" idx="12"/>
          </p:nvPr>
        </p:nvSpPr>
        <p:spPr/>
        <p:txBody>
          <a:bodyPr/>
          <a:lstStyle/>
          <a:p>
            <a:fld id="{9D19D5D5-BBEE-4E0B-A6A5-45BCEF1BBAED}" type="slidenum">
              <a:rPr lang="en-IN" smtClean="0"/>
              <a:t>‹#›</a:t>
            </a:fld>
            <a:endParaRPr lang="en-IN"/>
          </a:p>
        </p:txBody>
      </p:sp>
    </p:spTree>
    <p:extLst>
      <p:ext uri="{BB962C8B-B14F-4D97-AF65-F5344CB8AC3E}">
        <p14:creationId xmlns:p14="http://schemas.microsoft.com/office/powerpoint/2010/main" val="788538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D9F1B-DCCD-B14D-E1C3-2BE818E6BD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71DB95E-11C3-0BA9-BE9E-0FED4DA658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0111B5-67B5-452A-E784-EA221FE56598}"/>
              </a:ext>
            </a:extLst>
          </p:cNvPr>
          <p:cNvSpPr>
            <a:spLocks noGrp="1"/>
          </p:cNvSpPr>
          <p:nvPr>
            <p:ph type="dt" sz="half" idx="10"/>
          </p:nvPr>
        </p:nvSpPr>
        <p:spPr/>
        <p:txBody>
          <a:bodyPr/>
          <a:lstStyle/>
          <a:p>
            <a:fld id="{1AE246E3-605F-4649-AF14-322221BE5F1D}" type="datetimeFigureOut">
              <a:rPr lang="en-IN" smtClean="0"/>
              <a:t>21-09-2026</a:t>
            </a:fld>
            <a:endParaRPr lang="en-IN"/>
          </a:p>
        </p:txBody>
      </p:sp>
      <p:sp>
        <p:nvSpPr>
          <p:cNvPr id="5" name="Footer Placeholder 4">
            <a:extLst>
              <a:ext uri="{FF2B5EF4-FFF2-40B4-BE49-F238E27FC236}">
                <a16:creationId xmlns:a16="http://schemas.microsoft.com/office/drawing/2014/main" id="{F869C2EC-8654-805B-E698-D8D1A06B9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6D0597-6AED-1FE4-9113-92673A1D18D5}"/>
              </a:ext>
            </a:extLst>
          </p:cNvPr>
          <p:cNvSpPr>
            <a:spLocks noGrp="1"/>
          </p:cNvSpPr>
          <p:nvPr>
            <p:ph type="sldNum" sz="quarter" idx="12"/>
          </p:nvPr>
        </p:nvSpPr>
        <p:spPr/>
        <p:txBody>
          <a:bodyPr/>
          <a:lstStyle/>
          <a:p>
            <a:fld id="{9D19D5D5-BBEE-4E0B-A6A5-45BCEF1BBAED}" type="slidenum">
              <a:rPr lang="en-IN" smtClean="0"/>
              <a:t>‹#›</a:t>
            </a:fld>
            <a:endParaRPr lang="en-IN"/>
          </a:p>
        </p:txBody>
      </p:sp>
    </p:spTree>
    <p:extLst>
      <p:ext uri="{BB962C8B-B14F-4D97-AF65-F5344CB8AC3E}">
        <p14:creationId xmlns:p14="http://schemas.microsoft.com/office/powerpoint/2010/main" val="1337894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55FE0-928C-660F-D302-2131C60F37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057739-9DCB-39DB-E656-7DA40B08BF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11B702-0551-6E7C-8B55-EF6C694035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87DD956-0F23-EA1D-66DF-F81EBD02605A}"/>
              </a:ext>
            </a:extLst>
          </p:cNvPr>
          <p:cNvSpPr>
            <a:spLocks noGrp="1"/>
          </p:cNvSpPr>
          <p:nvPr>
            <p:ph type="dt" sz="half" idx="10"/>
          </p:nvPr>
        </p:nvSpPr>
        <p:spPr/>
        <p:txBody>
          <a:bodyPr/>
          <a:lstStyle/>
          <a:p>
            <a:fld id="{1AE246E3-605F-4649-AF14-322221BE5F1D}" type="datetimeFigureOut">
              <a:rPr lang="en-IN" smtClean="0"/>
              <a:t>21-09-2026</a:t>
            </a:fld>
            <a:endParaRPr lang="en-IN"/>
          </a:p>
        </p:txBody>
      </p:sp>
      <p:sp>
        <p:nvSpPr>
          <p:cNvPr id="6" name="Footer Placeholder 5">
            <a:extLst>
              <a:ext uri="{FF2B5EF4-FFF2-40B4-BE49-F238E27FC236}">
                <a16:creationId xmlns:a16="http://schemas.microsoft.com/office/drawing/2014/main" id="{110C3A38-5892-62CB-598D-72188E713C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1B5C87-5214-C1EA-FBC8-EA1B466CF07B}"/>
              </a:ext>
            </a:extLst>
          </p:cNvPr>
          <p:cNvSpPr>
            <a:spLocks noGrp="1"/>
          </p:cNvSpPr>
          <p:nvPr>
            <p:ph type="sldNum" sz="quarter" idx="12"/>
          </p:nvPr>
        </p:nvSpPr>
        <p:spPr/>
        <p:txBody>
          <a:bodyPr/>
          <a:lstStyle/>
          <a:p>
            <a:fld id="{9D19D5D5-BBEE-4E0B-A6A5-45BCEF1BBAED}" type="slidenum">
              <a:rPr lang="en-IN" smtClean="0"/>
              <a:t>‹#›</a:t>
            </a:fld>
            <a:endParaRPr lang="en-IN"/>
          </a:p>
        </p:txBody>
      </p:sp>
    </p:spTree>
    <p:extLst>
      <p:ext uri="{BB962C8B-B14F-4D97-AF65-F5344CB8AC3E}">
        <p14:creationId xmlns:p14="http://schemas.microsoft.com/office/powerpoint/2010/main" val="502676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9A73C-F4E0-795B-FC16-EC92F345FF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22490E-C094-8C66-DD22-9E58776794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1032C9-2C4F-9502-9154-ED2B3BF227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39EAE72-ED62-5C01-C2EC-184C7722A9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07B5C-0DAF-7782-E362-9D79397C3F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CF445F1-0136-31F7-67B8-0BEF41116569}"/>
              </a:ext>
            </a:extLst>
          </p:cNvPr>
          <p:cNvSpPr>
            <a:spLocks noGrp="1"/>
          </p:cNvSpPr>
          <p:nvPr>
            <p:ph type="dt" sz="half" idx="10"/>
          </p:nvPr>
        </p:nvSpPr>
        <p:spPr/>
        <p:txBody>
          <a:bodyPr/>
          <a:lstStyle/>
          <a:p>
            <a:fld id="{1AE246E3-605F-4649-AF14-322221BE5F1D}" type="datetimeFigureOut">
              <a:rPr lang="en-IN" smtClean="0"/>
              <a:t>21-09-2026</a:t>
            </a:fld>
            <a:endParaRPr lang="en-IN"/>
          </a:p>
        </p:txBody>
      </p:sp>
      <p:sp>
        <p:nvSpPr>
          <p:cNvPr id="8" name="Footer Placeholder 7">
            <a:extLst>
              <a:ext uri="{FF2B5EF4-FFF2-40B4-BE49-F238E27FC236}">
                <a16:creationId xmlns:a16="http://schemas.microsoft.com/office/drawing/2014/main" id="{DE9ADCE1-5328-4300-7FD1-A19C0BB177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13F16F-654E-B116-9342-1E74DDCEF823}"/>
              </a:ext>
            </a:extLst>
          </p:cNvPr>
          <p:cNvSpPr>
            <a:spLocks noGrp="1"/>
          </p:cNvSpPr>
          <p:nvPr>
            <p:ph type="sldNum" sz="quarter" idx="12"/>
          </p:nvPr>
        </p:nvSpPr>
        <p:spPr/>
        <p:txBody>
          <a:bodyPr/>
          <a:lstStyle/>
          <a:p>
            <a:fld id="{9D19D5D5-BBEE-4E0B-A6A5-45BCEF1BBAED}" type="slidenum">
              <a:rPr lang="en-IN" smtClean="0"/>
              <a:t>‹#›</a:t>
            </a:fld>
            <a:endParaRPr lang="en-IN"/>
          </a:p>
        </p:txBody>
      </p:sp>
    </p:spTree>
    <p:extLst>
      <p:ext uri="{BB962C8B-B14F-4D97-AF65-F5344CB8AC3E}">
        <p14:creationId xmlns:p14="http://schemas.microsoft.com/office/powerpoint/2010/main" val="1681163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DE723-04E8-E697-10BA-8F31ADE840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C0D6AA8-BAAE-FC06-BA3D-5E90ADAD2B92}"/>
              </a:ext>
            </a:extLst>
          </p:cNvPr>
          <p:cNvSpPr>
            <a:spLocks noGrp="1"/>
          </p:cNvSpPr>
          <p:nvPr>
            <p:ph type="dt" sz="half" idx="10"/>
          </p:nvPr>
        </p:nvSpPr>
        <p:spPr/>
        <p:txBody>
          <a:bodyPr/>
          <a:lstStyle/>
          <a:p>
            <a:fld id="{1AE246E3-605F-4649-AF14-322221BE5F1D}" type="datetimeFigureOut">
              <a:rPr lang="en-IN" smtClean="0"/>
              <a:t>21-09-2026</a:t>
            </a:fld>
            <a:endParaRPr lang="en-IN"/>
          </a:p>
        </p:txBody>
      </p:sp>
      <p:sp>
        <p:nvSpPr>
          <p:cNvPr id="4" name="Footer Placeholder 3">
            <a:extLst>
              <a:ext uri="{FF2B5EF4-FFF2-40B4-BE49-F238E27FC236}">
                <a16:creationId xmlns:a16="http://schemas.microsoft.com/office/drawing/2014/main" id="{59CE8302-AB63-121E-565D-E427527C0C9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D01794-2E70-7A1D-8A52-1ED61F032CD8}"/>
              </a:ext>
            </a:extLst>
          </p:cNvPr>
          <p:cNvSpPr>
            <a:spLocks noGrp="1"/>
          </p:cNvSpPr>
          <p:nvPr>
            <p:ph type="sldNum" sz="quarter" idx="12"/>
          </p:nvPr>
        </p:nvSpPr>
        <p:spPr/>
        <p:txBody>
          <a:bodyPr/>
          <a:lstStyle/>
          <a:p>
            <a:fld id="{9D19D5D5-BBEE-4E0B-A6A5-45BCEF1BBAED}" type="slidenum">
              <a:rPr lang="en-IN" smtClean="0"/>
              <a:t>‹#›</a:t>
            </a:fld>
            <a:endParaRPr lang="en-IN"/>
          </a:p>
        </p:txBody>
      </p:sp>
    </p:spTree>
    <p:extLst>
      <p:ext uri="{BB962C8B-B14F-4D97-AF65-F5344CB8AC3E}">
        <p14:creationId xmlns:p14="http://schemas.microsoft.com/office/powerpoint/2010/main" val="21445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87A1E6-8102-87C2-01BE-C98B46D5BA2D}"/>
              </a:ext>
            </a:extLst>
          </p:cNvPr>
          <p:cNvSpPr>
            <a:spLocks noGrp="1"/>
          </p:cNvSpPr>
          <p:nvPr>
            <p:ph type="dt" sz="half" idx="10"/>
          </p:nvPr>
        </p:nvSpPr>
        <p:spPr/>
        <p:txBody>
          <a:bodyPr/>
          <a:lstStyle/>
          <a:p>
            <a:fld id="{1AE246E3-605F-4649-AF14-322221BE5F1D}" type="datetimeFigureOut">
              <a:rPr lang="en-IN" smtClean="0"/>
              <a:t>21-09-2026</a:t>
            </a:fld>
            <a:endParaRPr lang="en-IN"/>
          </a:p>
        </p:txBody>
      </p:sp>
      <p:sp>
        <p:nvSpPr>
          <p:cNvPr id="3" name="Footer Placeholder 2">
            <a:extLst>
              <a:ext uri="{FF2B5EF4-FFF2-40B4-BE49-F238E27FC236}">
                <a16:creationId xmlns:a16="http://schemas.microsoft.com/office/drawing/2014/main" id="{AF372035-1311-1D0C-AB0F-911F78B16E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678025B-9352-EDAF-2C34-FDDAB4858BDF}"/>
              </a:ext>
            </a:extLst>
          </p:cNvPr>
          <p:cNvSpPr>
            <a:spLocks noGrp="1"/>
          </p:cNvSpPr>
          <p:nvPr>
            <p:ph type="sldNum" sz="quarter" idx="12"/>
          </p:nvPr>
        </p:nvSpPr>
        <p:spPr/>
        <p:txBody>
          <a:bodyPr/>
          <a:lstStyle/>
          <a:p>
            <a:fld id="{9D19D5D5-BBEE-4E0B-A6A5-45BCEF1BBAED}" type="slidenum">
              <a:rPr lang="en-IN" smtClean="0"/>
              <a:t>‹#›</a:t>
            </a:fld>
            <a:endParaRPr lang="en-IN"/>
          </a:p>
        </p:txBody>
      </p:sp>
    </p:spTree>
    <p:extLst>
      <p:ext uri="{BB962C8B-B14F-4D97-AF65-F5344CB8AC3E}">
        <p14:creationId xmlns:p14="http://schemas.microsoft.com/office/powerpoint/2010/main" val="3502547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123BE-465D-DF9F-6114-01AFD2339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F6BD5D-EC7E-024D-489A-23F98D1C19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042AEF2-F2E1-86F7-419C-DB058A8E09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4F77B2-074E-03E7-9C39-2CD76BE502A5}"/>
              </a:ext>
            </a:extLst>
          </p:cNvPr>
          <p:cNvSpPr>
            <a:spLocks noGrp="1"/>
          </p:cNvSpPr>
          <p:nvPr>
            <p:ph type="dt" sz="half" idx="10"/>
          </p:nvPr>
        </p:nvSpPr>
        <p:spPr/>
        <p:txBody>
          <a:bodyPr/>
          <a:lstStyle/>
          <a:p>
            <a:fld id="{1AE246E3-605F-4649-AF14-322221BE5F1D}" type="datetimeFigureOut">
              <a:rPr lang="en-IN" smtClean="0"/>
              <a:t>21-09-2026</a:t>
            </a:fld>
            <a:endParaRPr lang="en-IN"/>
          </a:p>
        </p:txBody>
      </p:sp>
      <p:sp>
        <p:nvSpPr>
          <p:cNvPr id="6" name="Footer Placeholder 5">
            <a:extLst>
              <a:ext uri="{FF2B5EF4-FFF2-40B4-BE49-F238E27FC236}">
                <a16:creationId xmlns:a16="http://schemas.microsoft.com/office/drawing/2014/main" id="{32FF139E-E761-177F-7238-810FA24004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9C9D6E-DD14-B356-D02B-D814C334D8E3}"/>
              </a:ext>
            </a:extLst>
          </p:cNvPr>
          <p:cNvSpPr>
            <a:spLocks noGrp="1"/>
          </p:cNvSpPr>
          <p:nvPr>
            <p:ph type="sldNum" sz="quarter" idx="12"/>
          </p:nvPr>
        </p:nvSpPr>
        <p:spPr/>
        <p:txBody>
          <a:bodyPr/>
          <a:lstStyle/>
          <a:p>
            <a:fld id="{9D19D5D5-BBEE-4E0B-A6A5-45BCEF1BBAED}" type="slidenum">
              <a:rPr lang="en-IN" smtClean="0"/>
              <a:t>‹#›</a:t>
            </a:fld>
            <a:endParaRPr lang="en-IN"/>
          </a:p>
        </p:txBody>
      </p:sp>
    </p:spTree>
    <p:extLst>
      <p:ext uri="{BB962C8B-B14F-4D97-AF65-F5344CB8AC3E}">
        <p14:creationId xmlns:p14="http://schemas.microsoft.com/office/powerpoint/2010/main" val="3445095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215B9-4B0C-557F-C385-F31A955C05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07D7B-5D3F-56C0-A655-A3A7D5615C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23798C7-03B9-E691-82DD-298382719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55A4A5-A93F-7F5F-C9E9-2AD657DFD6FE}"/>
              </a:ext>
            </a:extLst>
          </p:cNvPr>
          <p:cNvSpPr>
            <a:spLocks noGrp="1"/>
          </p:cNvSpPr>
          <p:nvPr>
            <p:ph type="dt" sz="half" idx="10"/>
          </p:nvPr>
        </p:nvSpPr>
        <p:spPr/>
        <p:txBody>
          <a:bodyPr/>
          <a:lstStyle/>
          <a:p>
            <a:fld id="{1AE246E3-605F-4649-AF14-322221BE5F1D}" type="datetimeFigureOut">
              <a:rPr lang="en-IN" smtClean="0"/>
              <a:t>21-09-2026</a:t>
            </a:fld>
            <a:endParaRPr lang="en-IN"/>
          </a:p>
        </p:txBody>
      </p:sp>
      <p:sp>
        <p:nvSpPr>
          <p:cNvPr id="6" name="Footer Placeholder 5">
            <a:extLst>
              <a:ext uri="{FF2B5EF4-FFF2-40B4-BE49-F238E27FC236}">
                <a16:creationId xmlns:a16="http://schemas.microsoft.com/office/drawing/2014/main" id="{6004B947-7290-0518-56DD-FE17A0AFE3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280DA9-6CB5-5240-01BE-51F4C6794BD5}"/>
              </a:ext>
            </a:extLst>
          </p:cNvPr>
          <p:cNvSpPr>
            <a:spLocks noGrp="1"/>
          </p:cNvSpPr>
          <p:nvPr>
            <p:ph type="sldNum" sz="quarter" idx="12"/>
          </p:nvPr>
        </p:nvSpPr>
        <p:spPr/>
        <p:txBody>
          <a:bodyPr/>
          <a:lstStyle/>
          <a:p>
            <a:fld id="{9D19D5D5-BBEE-4E0B-A6A5-45BCEF1BBAED}" type="slidenum">
              <a:rPr lang="en-IN" smtClean="0"/>
              <a:t>‹#›</a:t>
            </a:fld>
            <a:endParaRPr lang="en-IN"/>
          </a:p>
        </p:txBody>
      </p:sp>
    </p:spTree>
    <p:extLst>
      <p:ext uri="{BB962C8B-B14F-4D97-AF65-F5344CB8AC3E}">
        <p14:creationId xmlns:p14="http://schemas.microsoft.com/office/powerpoint/2010/main" val="389742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F1F7C-7A9E-0561-4F34-D3DA8B8CCE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0D7D60-3229-5551-D357-6396769824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DD94AD-ED97-8BFB-2547-6D0382602D36}"/>
              </a:ext>
            </a:extLst>
          </p:cNvPr>
          <p:cNvSpPr>
            <a:spLocks noGrp="1"/>
          </p:cNvSpPr>
          <p:nvPr>
            <p:ph type="dt" sz="half" idx="10"/>
          </p:nvPr>
        </p:nvSpPr>
        <p:spPr/>
        <p:txBody>
          <a:bodyPr/>
          <a:lstStyle/>
          <a:p>
            <a:fld id="{1AE246E3-605F-4649-AF14-322221BE5F1D}" type="datetimeFigureOut">
              <a:rPr lang="en-IN" smtClean="0"/>
              <a:t>21-09-2026</a:t>
            </a:fld>
            <a:endParaRPr lang="en-IN"/>
          </a:p>
        </p:txBody>
      </p:sp>
      <p:sp>
        <p:nvSpPr>
          <p:cNvPr id="5" name="Footer Placeholder 4">
            <a:extLst>
              <a:ext uri="{FF2B5EF4-FFF2-40B4-BE49-F238E27FC236}">
                <a16:creationId xmlns:a16="http://schemas.microsoft.com/office/drawing/2014/main" id="{4E1F5059-65AB-25D8-95AF-933E018265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1D0144-9C7C-0BA6-8F83-C16CF2D9EA1B}"/>
              </a:ext>
            </a:extLst>
          </p:cNvPr>
          <p:cNvSpPr>
            <a:spLocks noGrp="1"/>
          </p:cNvSpPr>
          <p:nvPr>
            <p:ph type="sldNum" sz="quarter" idx="12"/>
          </p:nvPr>
        </p:nvSpPr>
        <p:spPr/>
        <p:txBody>
          <a:bodyPr/>
          <a:lstStyle/>
          <a:p>
            <a:fld id="{9D19D5D5-BBEE-4E0B-A6A5-45BCEF1BBAED}" type="slidenum">
              <a:rPr lang="en-IN" smtClean="0"/>
              <a:t>‹#›</a:t>
            </a:fld>
            <a:endParaRPr lang="en-IN"/>
          </a:p>
        </p:txBody>
      </p:sp>
    </p:spTree>
    <p:extLst>
      <p:ext uri="{BB962C8B-B14F-4D97-AF65-F5344CB8AC3E}">
        <p14:creationId xmlns:p14="http://schemas.microsoft.com/office/powerpoint/2010/main" val="2085504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7D07FC-AD3D-37DD-AF28-F16C8DB7C4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53AEEC-4B08-CF42-2080-AA7713F4F4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DDE9ED-9EDF-B1AF-80A5-F5BEEEA4C3FD}"/>
              </a:ext>
            </a:extLst>
          </p:cNvPr>
          <p:cNvSpPr>
            <a:spLocks noGrp="1"/>
          </p:cNvSpPr>
          <p:nvPr>
            <p:ph type="dt" sz="half" idx="10"/>
          </p:nvPr>
        </p:nvSpPr>
        <p:spPr/>
        <p:txBody>
          <a:bodyPr/>
          <a:lstStyle/>
          <a:p>
            <a:fld id="{1AE246E3-605F-4649-AF14-322221BE5F1D}" type="datetimeFigureOut">
              <a:rPr lang="en-IN" smtClean="0"/>
              <a:t>21-09-2026</a:t>
            </a:fld>
            <a:endParaRPr lang="en-IN"/>
          </a:p>
        </p:txBody>
      </p:sp>
      <p:sp>
        <p:nvSpPr>
          <p:cNvPr id="5" name="Footer Placeholder 4">
            <a:extLst>
              <a:ext uri="{FF2B5EF4-FFF2-40B4-BE49-F238E27FC236}">
                <a16:creationId xmlns:a16="http://schemas.microsoft.com/office/drawing/2014/main" id="{04425E3B-53D4-465A-A2B8-50443977B6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10A40A-FF44-B9C8-406B-F317ACD0A2C5}"/>
              </a:ext>
            </a:extLst>
          </p:cNvPr>
          <p:cNvSpPr>
            <a:spLocks noGrp="1"/>
          </p:cNvSpPr>
          <p:nvPr>
            <p:ph type="sldNum" sz="quarter" idx="12"/>
          </p:nvPr>
        </p:nvSpPr>
        <p:spPr/>
        <p:txBody>
          <a:bodyPr/>
          <a:lstStyle/>
          <a:p>
            <a:fld id="{9D19D5D5-BBEE-4E0B-A6A5-45BCEF1BBAED}" type="slidenum">
              <a:rPr lang="en-IN" smtClean="0"/>
              <a:t>‹#›</a:t>
            </a:fld>
            <a:endParaRPr lang="en-IN"/>
          </a:p>
        </p:txBody>
      </p:sp>
    </p:spTree>
    <p:extLst>
      <p:ext uri="{BB962C8B-B14F-4D97-AF65-F5344CB8AC3E}">
        <p14:creationId xmlns:p14="http://schemas.microsoft.com/office/powerpoint/2010/main" val="3928538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5D8CF-CA28-B61E-6774-624A8E39AB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250302-B8BD-240A-C4D9-8F577C32D5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4EAAB9-4295-0670-E783-0DC100747B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E246E3-605F-4649-AF14-322221BE5F1D}" type="datetimeFigureOut">
              <a:rPr lang="en-IN" smtClean="0"/>
              <a:t>21-09-2026</a:t>
            </a:fld>
            <a:endParaRPr lang="en-IN"/>
          </a:p>
        </p:txBody>
      </p:sp>
      <p:sp>
        <p:nvSpPr>
          <p:cNvPr id="5" name="Footer Placeholder 4">
            <a:extLst>
              <a:ext uri="{FF2B5EF4-FFF2-40B4-BE49-F238E27FC236}">
                <a16:creationId xmlns:a16="http://schemas.microsoft.com/office/drawing/2014/main" id="{A2696024-4701-C35F-6A66-4AE9CFAD17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1E9C49D-B97E-61F0-EBE4-8C315E5A5E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19D5D5-BBEE-4E0B-A6A5-45BCEF1BBAED}" type="slidenum">
              <a:rPr lang="en-IN" smtClean="0"/>
              <a:t>‹#›</a:t>
            </a:fld>
            <a:endParaRPr lang="en-IN"/>
          </a:p>
        </p:txBody>
      </p:sp>
    </p:spTree>
    <p:extLst>
      <p:ext uri="{BB962C8B-B14F-4D97-AF65-F5344CB8AC3E}">
        <p14:creationId xmlns:p14="http://schemas.microsoft.com/office/powerpoint/2010/main" val="982335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7D0506-946E-1978-CA06-CE3F7EB513BE}"/>
              </a:ext>
            </a:extLst>
          </p:cNvPr>
          <p:cNvSpPr txBox="1"/>
          <p:nvPr/>
        </p:nvSpPr>
        <p:spPr>
          <a:xfrm>
            <a:off x="1189703" y="409221"/>
            <a:ext cx="9645445" cy="4247317"/>
          </a:xfrm>
          <a:prstGeom prst="rect">
            <a:avLst/>
          </a:prstGeom>
          <a:noFill/>
        </p:spPr>
        <p:txBody>
          <a:bodyPr wrap="square">
            <a:spAutoFit/>
          </a:bodyPr>
          <a:lstStyle/>
          <a:p>
            <a:r>
              <a:rPr lang="en-US" sz="2800" b="1" dirty="0">
                <a:solidFill>
                  <a:srgbClr val="FF0000"/>
                </a:solidFill>
              </a:rPr>
              <a:t>                            </a:t>
            </a:r>
            <a:r>
              <a:rPr lang="en-US" sz="2800" b="1" dirty="0" err="1">
                <a:solidFill>
                  <a:srgbClr val="FF0000"/>
                </a:solidFill>
              </a:rPr>
              <a:t>CodeShield</a:t>
            </a:r>
            <a:r>
              <a:rPr lang="en-US" sz="2800" b="1" dirty="0">
                <a:solidFill>
                  <a:srgbClr val="FF0000"/>
                </a:solidFill>
              </a:rPr>
              <a:t> – Security-Aware Compiler</a:t>
            </a:r>
            <a:br>
              <a:rPr lang="en-US" sz="1600" dirty="0">
                <a:solidFill>
                  <a:srgbClr val="FF0000"/>
                </a:solidFill>
              </a:rPr>
            </a:br>
            <a:r>
              <a:rPr lang="en-US" sz="1600" dirty="0">
                <a:solidFill>
                  <a:srgbClr val="FF0000"/>
                </a:solidFill>
              </a:rPr>
              <a:t>                                                                                  </a:t>
            </a:r>
          </a:p>
          <a:p>
            <a:pPr algn="ctr"/>
            <a:r>
              <a:rPr lang="en-US" sz="1600" dirty="0">
                <a:solidFill>
                  <a:srgbClr val="FF0000"/>
                </a:solidFill>
              </a:rPr>
              <a:t>        Department of CSE</a:t>
            </a:r>
            <a:br>
              <a:rPr lang="en-US" sz="1600" dirty="0">
                <a:solidFill>
                  <a:srgbClr val="FF0000"/>
                </a:solidFill>
              </a:rPr>
            </a:br>
            <a:r>
              <a:rPr lang="en-US" sz="1600" dirty="0">
                <a:solidFill>
                  <a:srgbClr val="FF0000"/>
                </a:solidFill>
              </a:rPr>
              <a:t>       COURSE: COMPILER DESIGN –(24CS2235F)</a:t>
            </a:r>
            <a:br>
              <a:rPr lang="en-US" sz="1600" dirty="0">
                <a:solidFill>
                  <a:srgbClr val="FF0000"/>
                </a:solidFill>
              </a:rPr>
            </a:br>
            <a:r>
              <a:rPr lang="en-US" sz="1600" dirty="0">
                <a:solidFill>
                  <a:srgbClr val="FF0000"/>
                </a:solidFill>
              </a:rPr>
              <a:t>        SECTION-5</a:t>
            </a:r>
            <a:br>
              <a:rPr lang="en-US" sz="1600" dirty="0">
                <a:solidFill>
                  <a:srgbClr val="FF0000"/>
                </a:solidFill>
              </a:rPr>
            </a:br>
            <a:br>
              <a:rPr lang="en-US" sz="1600" dirty="0">
                <a:solidFill>
                  <a:srgbClr val="FF0000"/>
                </a:solidFill>
              </a:rPr>
            </a:br>
            <a:r>
              <a:rPr lang="en-US" sz="1600" dirty="0">
                <a:solidFill>
                  <a:srgbClr val="FF0000"/>
                </a:solidFill>
              </a:rPr>
              <a:t>      </a:t>
            </a:r>
            <a:r>
              <a:rPr lang="en-US" sz="1600" dirty="0"/>
              <a:t>Review-1</a:t>
            </a:r>
            <a:br>
              <a:rPr lang="en-US" sz="1600" dirty="0"/>
            </a:br>
            <a:r>
              <a:rPr lang="en-US" sz="1600" dirty="0">
                <a:solidFill>
                  <a:schemeClr val="accent1"/>
                </a:solidFill>
              </a:rPr>
              <a:t>            </a:t>
            </a:r>
            <a:r>
              <a:rPr lang="en-IN" sz="1600" dirty="0">
                <a:solidFill>
                  <a:srgbClr val="FF0000"/>
                </a:solidFill>
              </a:rPr>
              <a:t>Under the Guidance of</a:t>
            </a:r>
            <a:r>
              <a:rPr lang="en-US" sz="1600" dirty="0">
                <a:solidFill>
                  <a:srgbClr val="FF0000"/>
                </a:solidFill>
              </a:rPr>
              <a:t>: Dr. P. Krishna Kishore</a:t>
            </a:r>
            <a:br>
              <a:rPr lang="en-US" sz="1600" dirty="0"/>
            </a:br>
            <a:br>
              <a:rPr lang="en-US" sz="1600" dirty="0"/>
            </a:br>
            <a:r>
              <a:rPr lang="en-US" sz="1600" dirty="0"/>
              <a:t>           </a:t>
            </a:r>
            <a:r>
              <a:rPr lang="en-US" sz="1600" dirty="0">
                <a:solidFill>
                  <a:srgbClr val="FF0000"/>
                </a:solidFill>
              </a:rPr>
              <a:t>Team Members</a:t>
            </a:r>
            <a:br>
              <a:rPr lang="en-US" sz="1600" dirty="0"/>
            </a:br>
            <a:r>
              <a:rPr lang="en-US" sz="1600" dirty="0"/>
              <a:t>                   2420030525-Bongu Lakshmi Sai Prasanna</a:t>
            </a:r>
            <a:br>
              <a:rPr lang="en-US" sz="1600" dirty="0"/>
            </a:br>
            <a:r>
              <a:rPr lang="en-US" sz="1600" dirty="0"/>
              <a:t>                    2420030508-Allam Neha Reddy</a:t>
            </a:r>
            <a:br>
              <a:rPr lang="en-US" sz="1600" dirty="0"/>
            </a:br>
            <a:r>
              <a:rPr lang="en-US" sz="1600" dirty="0"/>
              <a:t>                    2420030529-Yarlagadda Divya Sri</a:t>
            </a:r>
            <a:br>
              <a:rPr lang="en-US" sz="1600" dirty="0"/>
            </a:br>
            <a:r>
              <a:rPr lang="en-US" sz="1600" dirty="0"/>
              <a:t>                 2420030323-P. Harshini</a:t>
            </a:r>
            <a:br>
              <a:rPr lang="en-US" sz="1600" dirty="0"/>
            </a:br>
            <a:br>
              <a:rPr lang="en-IN" sz="1600" dirty="0"/>
            </a:br>
            <a:endParaRPr lang="en-IN" dirty="0"/>
          </a:p>
        </p:txBody>
      </p:sp>
      <p:pic>
        <p:nvPicPr>
          <p:cNvPr id="5" name="Picture 4" descr="MAPS &amp; DIRECTIONS - Best Private University in Telangana ...">
            <a:extLst>
              <a:ext uri="{FF2B5EF4-FFF2-40B4-BE49-F238E27FC236}">
                <a16:creationId xmlns:a16="http://schemas.microsoft.com/office/drawing/2014/main" id="{62E763EF-9DBF-FC73-3D97-A364360E45EF}"/>
              </a:ext>
            </a:extLst>
          </p:cNvPr>
          <p:cNvPicPr>
            <a:picLocks noChangeAspect="1"/>
          </p:cNvPicPr>
          <p:nvPr/>
        </p:nvPicPr>
        <p:blipFill>
          <a:blip r:embed="rId2"/>
          <a:stretch>
            <a:fillRect/>
          </a:stretch>
        </p:blipFill>
        <p:spPr>
          <a:xfrm>
            <a:off x="4652330" y="3923164"/>
            <a:ext cx="3140157" cy="2334027"/>
          </a:xfrm>
          <a:prstGeom prst="rect">
            <a:avLst/>
          </a:prstGeom>
        </p:spPr>
      </p:pic>
    </p:spTree>
    <p:extLst>
      <p:ext uri="{BB962C8B-B14F-4D97-AF65-F5344CB8AC3E}">
        <p14:creationId xmlns:p14="http://schemas.microsoft.com/office/powerpoint/2010/main" val="1303988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47A96-7BD1-4D04-0B24-20AE91352E31}"/>
              </a:ext>
            </a:extLst>
          </p:cNvPr>
          <p:cNvSpPr>
            <a:spLocks noGrp="1"/>
          </p:cNvSpPr>
          <p:nvPr>
            <p:ph type="title"/>
          </p:nvPr>
        </p:nvSpPr>
        <p:spPr>
          <a:xfrm>
            <a:off x="838200" y="809262"/>
            <a:ext cx="10515600" cy="1325563"/>
          </a:xfrm>
        </p:spPr>
        <p:txBody>
          <a:bodyPr>
            <a:normAutofit fontScale="90000"/>
          </a:bodyPr>
          <a:lstStyle/>
          <a:p>
            <a:br>
              <a:rPr lang="en-US" dirty="0"/>
            </a:br>
            <a:br>
              <a:rPr lang="en-US" dirty="0"/>
            </a:br>
            <a:br>
              <a:rPr lang="en-US" dirty="0"/>
            </a:br>
            <a:br>
              <a:rPr lang="en-US" dirty="0"/>
            </a:br>
            <a:br>
              <a:rPr lang="en-US" dirty="0"/>
            </a:br>
            <a:br>
              <a:rPr lang="en-US" dirty="0"/>
            </a:br>
            <a:br>
              <a:rPr lang="en-US" dirty="0"/>
            </a:br>
            <a:r>
              <a:rPr lang="en-US" b="1" dirty="0"/>
              <a:t>Contents:</a:t>
            </a:r>
            <a:br>
              <a:rPr lang="en-US" b="1" dirty="0"/>
            </a:br>
            <a:br>
              <a:rPr lang="en-US" dirty="0"/>
            </a:br>
            <a:r>
              <a:rPr lang="en-US" sz="3600" dirty="0"/>
              <a:t>1. Abstract</a:t>
            </a:r>
            <a:br>
              <a:rPr lang="en-US" sz="3600" dirty="0"/>
            </a:br>
            <a:r>
              <a:rPr lang="en-US" sz="3600" dirty="0"/>
              <a:t>2. Introduction</a:t>
            </a:r>
            <a:br>
              <a:rPr lang="en-US" sz="3600" dirty="0"/>
            </a:br>
            <a:r>
              <a:rPr lang="en-US" sz="3600" dirty="0"/>
              <a:t>3. Literature Survey</a:t>
            </a:r>
            <a:br>
              <a:rPr lang="en-US" sz="3600" dirty="0"/>
            </a:br>
            <a:r>
              <a:rPr lang="en-US" sz="3600" dirty="0"/>
              <a:t>4. Objectives</a:t>
            </a:r>
            <a:br>
              <a:rPr lang="en-US" sz="3600" dirty="0"/>
            </a:br>
            <a:r>
              <a:rPr lang="en-US" sz="3600" dirty="0"/>
              <a:t>5. Proposed Methodology</a:t>
            </a:r>
            <a:br>
              <a:rPr lang="en-US" sz="3600" dirty="0"/>
            </a:br>
            <a:r>
              <a:rPr lang="en-US" sz="3600" dirty="0"/>
              <a:t>6. Architecture of Proposed Methodology</a:t>
            </a:r>
            <a:br>
              <a:rPr lang="en-US" sz="3600" dirty="0"/>
            </a:br>
            <a:r>
              <a:rPr lang="en-US" sz="3600" dirty="0"/>
              <a:t>7. System S/w &amp; H/w</a:t>
            </a:r>
            <a:br>
              <a:rPr lang="en-US" sz="3600" dirty="0"/>
            </a:br>
            <a:r>
              <a:rPr lang="en-US" sz="3600" dirty="0"/>
              <a:t>8. Conclusion</a:t>
            </a:r>
            <a:br>
              <a:rPr lang="en-US" sz="3600" dirty="0"/>
            </a:br>
            <a:r>
              <a:rPr lang="en-US" sz="3600" dirty="0"/>
              <a:t>9. References</a:t>
            </a:r>
            <a:endParaRPr lang="en-IN" sz="3600" dirty="0"/>
          </a:p>
        </p:txBody>
      </p:sp>
    </p:spTree>
    <p:extLst>
      <p:ext uri="{BB962C8B-B14F-4D97-AF65-F5344CB8AC3E}">
        <p14:creationId xmlns:p14="http://schemas.microsoft.com/office/powerpoint/2010/main" val="2042837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9823" y="147411"/>
            <a:ext cx="10515600" cy="1325563"/>
          </a:xfrm>
        </p:spPr>
        <p:txBody>
          <a:bodyPr>
            <a:normAutofit/>
          </a:bodyPr>
          <a:lstStyle/>
          <a:p>
            <a:r>
              <a:rPr lang="en-US" sz="4000" b="1" dirty="0"/>
              <a:t>Abstract</a:t>
            </a:r>
          </a:p>
        </p:txBody>
      </p:sp>
      <p:sp>
        <p:nvSpPr>
          <p:cNvPr id="3" name="Content Placeholder 2"/>
          <p:cNvSpPr>
            <a:spLocks noGrp="1"/>
          </p:cNvSpPr>
          <p:nvPr>
            <p:ph idx="1"/>
          </p:nvPr>
        </p:nvSpPr>
        <p:spPr>
          <a:xfrm>
            <a:off x="759823" y="1407613"/>
            <a:ext cx="10515600" cy="4351338"/>
          </a:xfrm>
        </p:spPr>
        <p:txBody>
          <a:bodyPr>
            <a:noAutofit/>
          </a:bodyPr>
          <a:lstStyle/>
          <a:p>
            <a:pPr marL="0" indent="0" algn="just">
              <a:spcBef>
                <a:spcPts val="800"/>
              </a:spcBef>
              <a:buNone/>
            </a:pPr>
            <a:r>
              <a:rPr lang="en-US" sz="2400" dirty="0"/>
              <a:t>CodeShield – Security-Aware Compiler integrates the traditional compiler phases with static security analysis to identify potentially vulnerable constructs during compilation. Source code in a simplified language passes through lexical analysis (regular expressions, tokenization), syntax analysis (grammar rules, parse tree, AST), syntax-directed translation and Three Address Code (TAC) generation. A security analysis layer tracks untrusted data from input sources to sensitive operations and detects unsafe user input, hardcoded credentials, suspicious string concatenation and SQL injection. Each issue is reported with location, type, severity and a mitigation hint. The code is then optimized (constant folding, constant propagation, dead-code elimination, common subexpression detection) and converted to pseudo-machine code, with a user interface showing every stage.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Introduction</a:t>
            </a:r>
          </a:p>
        </p:txBody>
      </p:sp>
      <p:sp>
        <p:nvSpPr>
          <p:cNvPr id="3" name="Content Placeholder 2"/>
          <p:cNvSpPr>
            <a:spLocks noGrp="1"/>
          </p:cNvSpPr>
          <p:nvPr>
            <p:ph idx="1"/>
          </p:nvPr>
        </p:nvSpPr>
        <p:spPr/>
        <p:txBody>
          <a:bodyPr>
            <a:normAutofit/>
          </a:bodyPr>
          <a:lstStyle/>
          <a:p>
            <a:pPr>
              <a:spcBef>
                <a:spcPts val="800"/>
              </a:spcBef>
            </a:pPr>
            <a:r>
              <a:rPr lang="en-US" sz="2400" dirty="0"/>
              <a:t>A compiler translates a high-level source program into target code, reading every token and understanding the program's structure along the way.</a:t>
            </a:r>
          </a:p>
          <a:p>
            <a:pPr>
              <a:spcBef>
                <a:spcPts val="800"/>
              </a:spcBef>
            </a:pPr>
            <a:r>
              <a:rPr lang="en-US" sz="2400" dirty="0"/>
              <a:t>Insecure code, such as unsafe user input, hardcoded credentials and SQL injection, normally passes compilation and is found only after deployment.</a:t>
            </a:r>
          </a:p>
          <a:p>
            <a:pPr>
              <a:spcBef>
                <a:spcPts val="800"/>
              </a:spcBef>
            </a:pPr>
            <a:r>
              <a:rPr lang="en-US" sz="2400" dirty="0"/>
              <a:t>Since a compiler already builds tokens, an AST and intermediate code, it is well placed to also check a program for security problems.</a:t>
            </a:r>
          </a:p>
          <a:p>
            <a:pPr>
              <a:spcBef>
                <a:spcPts val="800"/>
              </a:spcBef>
            </a:pPr>
            <a:r>
              <a:rPr lang="en-US" sz="2400" dirty="0"/>
              <a:t>CodeShield adds a security analysis layer to the compiler pipeline so vulnerabilities are detected early and secure, efficient code is generated.</a:t>
            </a:r>
          </a:p>
          <a:p>
            <a:pPr>
              <a:spcBef>
                <a:spcPts val="800"/>
              </a:spcBef>
            </a:pPr>
            <a:r>
              <a:rPr lang="en-US" sz="2400" b="1" dirty="0"/>
              <a:t>Compiler Design concepts used: </a:t>
            </a:r>
            <a:r>
              <a:rPr lang="en-US" sz="2400" dirty="0"/>
              <a:t>lexical analysis, parsing, syntax-directed translation, AST, three-address code, optimization, data-flow analysis and code generation.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3205"/>
            <a:ext cx="10515600" cy="1325563"/>
          </a:xfrm>
        </p:spPr>
        <p:txBody>
          <a:bodyPr>
            <a:normAutofit/>
          </a:bodyPr>
          <a:lstStyle/>
          <a:p>
            <a:r>
              <a:rPr lang="en-US" sz="4000" b="1" dirty="0"/>
              <a:t>Literature Survey</a:t>
            </a:r>
          </a:p>
        </p:txBody>
      </p:sp>
      <p:sp>
        <p:nvSpPr>
          <p:cNvPr id="3" name="Content Placeholder 2"/>
          <p:cNvSpPr>
            <a:spLocks noGrp="1"/>
          </p:cNvSpPr>
          <p:nvPr>
            <p:ph idx="1"/>
          </p:nvPr>
        </p:nvSpPr>
        <p:spPr>
          <a:xfrm>
            <a:off x="716280" y="1494699"/>
            <a:ext cx="10515600" cy="4351338"/>
          </a:xfrm>
        </p:spPr>
        <p:txBody>
          <a:bodyPr>
            <a:noAutofit/>
          </a:bodyPr>
          <a:lstStyle/>
          <a:p>
            <a:pPr>
              <a:spcBef>
                <a:spcPts val="800"/>
              </a:spcBef>
            </a:pPr>
            <a:r>
              <a:rPr lang="en-US" sz="2400" b="1" dirty="0"/>
              <a:t>Aho, Lam, Sethi &amp; Ullman (2006), Compilers: Principles, Techniques, and Tools: </a:t>
            </a:r>
            <a:r>
              <a:rPr lang="en-US" sz="2400" dirty="0"/>
              <a:t>standard reference for lexing, parsing, syntax-directed translation, TAC, optimization and code generation.</a:t>
            </a:r>
          </a:p>
          <a:p>
            <a:pPr>
              <a:spcBef>
                <a:spcPts val="800"/>
              </a:spcBef>
            </a:pPr>
            <a:r>
              <a:rPr lang="en-US" sz="2400" b="1" dirty="0"/>
              <a:t>Chess &amp; McGraw (2004), Static Analysis for Security: </a:t>
            </a:r>
            <a:r>
              <a:rPr lang="en-US" sz="2400" dirty="0"/>
              <a:t>shows how static analysis finds security defects in source code before execution.</a:t>
            </a:r>
          </a:p>
          <a:p>
            <a:pPr>
              <a:spcBef>
                <a:spcPts val="800"/>
              </a:spcBef>
            </a:pPr>
            <a:r>
              <a:rPr lang="en-US" sz="2400" b="1" dirty="0"/>
              <a:t>Denning (1976), A Lattice Model of Secure Information Flow: </a:t>
            </a:r>
            <a:r>
              <a:rPr lang="en-US" sz="2400" dirty="0"/>
              <a:t>formal model of information flow between sources and sinks, the basis for tracking untrusted data.</a:t>
            </a:r>
          </a:p>
          <a:p>
            <a:pPr>
              <a:spcBef>
                <a:spcPts val="800"/>
              </a:spcBef>
            </a:pPr>
            <a:r>
              <a:rPr lang="en-US" sz="2400" b="1" dirty="0"/>
              <a:t>Livshits &amp; Lam (2005), Finding Security Vulnerabilities in Java Applications with Static Analysis: </a:t>
            </a:r>
            <a:r>
              <a:rPr lang="en-US" sz="2400" dirty="0"/>
              <a:t>static taint analysis to find injection flaws such as SQL injection.</a:t>
            </a:r>
          </a:p>
          <a:p>
            <a:pPr>
              <a:spcBef>
                <a:spcPts val="800"/>
              </a:spcBef>
            </a:pPr>
            <a:r>
              <a:rPr lang="en-US" sz="2400" b="1" dirty="0"/>
              <a:t>Halfond, Viegas &amp; Orso (2006), Classification of SQL Injection Attacks and Countermeasures: </a:t>
            </a:r>
            <a:r>
              <a:rPr lang="en-US" sz="2400" dirty="0"/>
              <a:t>classifies SQL injection attacks, guiding the patterns CodeShield detects.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Objectives</a:t>
            </a:r>
          </a:p>
        </p:txBody>
      </p:sp>
      <p:sp>
        <p:nvSpPr>
          <p:cNvPr id="3" name="Content Placeholder 2"/>
          <p:cNvSpPr>
            <a:spLocks noGrp="1"/>
          </p:cNvSpPr>
          <p:nvPr>
            <p:ph idx="1"/>
          </p:nvPr>
        </p:nvSpPr>
        <p:spPr>
          <a:xfrm>
            <a:off x="838200" y="1616619"/>
            <a:ext cx="10515600" cy="4351338"/>
          </a:xfrm>
        </p:spPr>
        <p:txBody>
          <a:bodyPr>
            <a:noAutofit/>
          </a:bodyPr>
          <a:lstStyle/>
          <a:p>
            <a:pPr>
              <a:spcBef>
                <a:spcPts val="800"/>
              </a:spcBef>
            </a:pPr>
            <a:r>
              <a:rPr lang="en-US" sz="2400" dirty="0"/>
              <a:t>To build the compiler front end: tokenize a simplified language using regular expressions and validate its structure with grammar rules.</a:t>
            </a:r>
          </a:p>
          <a:p>
            <a:pPr>
              <a:spcBef>
                <a:spcPts val="800"/>
              </a:spcBef>
            </a:pPr>
            <a:r>
              <a:rPr lang="en-US" sz="2400" dirty="0"/>
              <a:t>To construct an Abstract Syntax Tree and generate Three Address Code using syntax-directed translation.</a:t>
            </a:r>
          </a:p>
          <a:p>
            <a:pPr>
              <a:spcBef>
                <a:spcPts val="800"/>
              </a:spcBef>
            </a:pPr>
            <a:r>
              <a:rPr lang="en-US" sz="2400" dirty="0"/>
              <a:t>To detect security issues: unsafe user input, hardcoded credentials, suspicious string concatenation and potential SQL injection.</a:t>
            </a:r>
          </a:p>
          <a:p>
            <a:pPr>
              <a:spcBef>
                <a:spcPts val="800"/>
              </a:spcBef>
            </a:pPr>
            <a:r>
              <a:rPr lang="en-US" sz="2400" dirty="0"/>
              <a:t>To report each issue with its location, vulnerability type, severity level and a basic mitigation recommendation.</a:t>
            </a:r>
          </a:p>
          <a:p>
            <a:pPr>
              <a:spcBef>
                <a:spcPts val="800"/>
              </a:spcBef>
            </a:pPr>
            <a:r>
              <a:rPr lang="en-US" sz="2400" dirty="0"/>
              <a:t>To optimize the intermediate code using constant folding, constant propagation, dead-code elimination and common subexpression detection.</a:t>
            </a:r>
          </a:p>
          <a:p>
            <a:pPr>
              <a:spcBef>
                <a:spcPts val="800"/>
              </a:spcBef>
            </a:pPr>
            <a:r>
              <a:rPr lang="en-US" sz="2400" dirty="0"/>
              <a:t>To generate target (pseudo-machine) code and display all stages through a user-friendly interface.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9331"/>
            <a:ext cx="10515600" cy="1325563"/>
          </a:xfrm>
        </p:spPr>
        <p:txBody>
          <a:bodyPr>
            <a:normAutofit/>
          </a:bodyPr>
          <a:lstStyle/>
          <a:p>
            <a:r>
              <a:rPr lang="en-US" sz="4000" b="1" dirty="0"/>
              <a:t>Proposed Methodology</a:t>
            </a:r>
          </a:p>
        </p:txBody>
      </p:sp>
      <p:sp>
        <p:nvSpPr>
          <p:cNvPr id="3" name="Content Placeholder 2"/>
          <p:cNvSpPr>
            <a:spLocks noGrp="1"/>
          </p:cNvSpPr>
          <p:nvPr>
            <p:ph idx="1"/>
          </p:nvPr>
        </p:nvSpPr>
        <p:spPr>
          <a:xfrm>
            <a:off x="838200" y="1496468"/>
            <a:ext cx="10515600" cy="4351338"/>
          </a:xfrm>
        </p:spPr>
        <p:txBody>
          <a:bodyPr>
            <a:noAutofit/>
          </a:bodyPr>
          <a:lstStyle/>
          <a:p>
            <a:pPr marL="0" indent="0">
              <a:spcBef>
                <a:spcPts val="600"/>
              </a:spcBef>
              <a:buNone/>
            </a:pPr>
            <a:r>
              <a:rPr lang="en-US" sz="2400" b="1" dirty="0"/>
              <a:t>1. Lexical Analysis: </a:t>
            </a:r>
            <a:r>
              <a:rPr lang="en-US" sz="2400" dirty="0"/>
              <a:t>regular expressions and tokenization identify keywords, identifiers, operators, constants and strings.</a:t>
            </a:r>
          </a:p>
          <a:p>
            <a:pPr marL="0" indent="0">
              <a:spcBef>
                <a:spcPts val="600"/>
              </a:spcBef>
              <a:buNone/>
            </a:pPr>
            <a:r>
              <a:rPr lang="en-US" sz="2400" b="1" dirty="0"/>
              <a:t>2. Syntax Analysis: </a:t>
            </a:r>
            <a:r>
              <a:rPr lang="en-US" sz="2400" dirty="0"/>
              <a:t>grammar rules validate the program structure; a parse representation and an AST are built.</a:t>
            </a:r>
          </a:p>
          <a:p>
            <a:pPr marL="0" indent="0">
              <a:spcBef>
                <a:spcPts val="600"/>
              </a:spcBef>
              <a:buNone/>
            </a:pPr>
            <a:r>
              <a:rPr lang="en-US" sz="2400" b="1" dirty="0"/>
              <a:t>3. Syntax-Directed Translation and ICG: </a:t>
            </a:r>
            <a:r>
              <a:rPr lang="en-US" sz="2400" dirty="0"/>
              <a:t>the AST is converted into Three Address Code (TAC).</a:t>
            </a:r>
          </a:p>
          <a:p>
            <a:pPr marL="0" indent="0">
              <a:spcBef>
                <a:spcPts val="600"/>
              </a:spcBef>
              <a:buNone/>
            </a:pPr>
            <a:r>
              <a:rPr lang="en-US" sz="2400" b="1" dirty="0"/>
              <a:t>4. Security Analysis: </a:t>
            </a:r>
            <a:r>
              <a:rPr lang="en-US" sz="2400" dirty="0"/>
              <a:t>data-flow tracking follows untrusted input to sensitive operations and reports vulnerabilities.</a:t>
            </a:r>
          </a:p>
          <a:p>
            <a:pPr marL="0" indent="0">
              <a:spcBef>
                <a:spcPts val="600"/>
              </a:spcBef>
              <a:buNone/>
            </a:pPr>
            <a:r>
              <a:rPr lang="en-US" sz="2400" b="1" dirty="0"/>
              <a:t>5. Code Optimization: </a:t>
            </a:r>
            <a:r>
              <a:rPr lang="en-US" sz="2400" dirty="0"/>
              <a:t>constant folding, constant propagation, dead-code elimination, common subexpression detection.</a:t>
            </a:r>
          </a:p>
          <a:p>
            <a:pPr marL="0" indent="0">
              <a:spcBef>
                <a:spcPts val="600"/>
              </a:spcBef>
              <a:buNone/>
            </a:pPr>
            <a:r>
              <a:rPr lang="en-US" sz="2400" b="1" dirty="0"/>
              <a:t>6. Code Generation: </a:t>
            </a:r>
            <a:r>
              <a:rPr lang="en-US" sz="2400" dirty="0"/>
              <a:t>optimized TAC is translated into simple target or pseudo-machine code.</a:t>
            </a:r>
          </a:p>
          <a:p>
            <a:pPr marL="0" indent="0">
              <a:spcBef>
                <a:spcPts val="600"/>
              </a:spcBef>
              <a:buNone/>
            </a:pPr>
            <a:r>
              <a:rPr lang="en-US" sz="2400" b="1" dirty="0"/>
              <a:t>7. User Interface: </a:t>
            </a:r>
            <a:r>
              <a:rPr lang="en-US" sz="2400" dirty="0"/>
              <a:t>displays tokens, syntax result, AST, TAC, warnings, optimized code and target code.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Architecture of Proposed Methodology</a:t>
            </a:r>
          </a:p>
        </p:txBody>
      </p:sp>
      <p:sp>
        <p:nvSpPr>
          <p:cNvPr id="10" name="Rectangle 10"/>
          <p:cNvSpPr/>
          <p:nvPr/>
        </p:nvSpPr>
        <p:spPr>
          <a:xfrm>
            <a:off x="457200" y="1600200"/>
            <a:ext cx="1828800" cy="457200"/>
          </a:xfrm>
          <a:prstGeom prst="rect">
            <a:avLst/>
          </a:prstGeom>
          <a:solidFill>
            <a:srgbClr val="FFFFFF"/>
          </a:solidFill>
          <a:ln w="19050">
            <a:solidFill>
              <a:srgbClr val="000000"/>
            </a:solidFill>
          </a:ln>
        </p:spPr>
        <p:txBody>
          <a:bodyPr wrap="square" lIns="45720" rIns="45720" anchor="ctr">
            <a:noAutofit/>
          </a:bodyPr>
          <a:lstStyle/>
          <a:p>
            <a:pPr algn="ctr"/>
            <a:r>
              <a:rPr lang="en-US" sz="1400" b="1" dirty="0">
                <a:solidFill>
                  <a:srgbClr val="000000"/>
                </a:solidFill>
              </a:rPr>
              <a:t>Source Code</a:t>
            </a:r>
          </a:p>
        </p:txBody>
      </p:sp>
      <p:sp>
        <p:nvSpPr>
          <p:cNvPr id="20" name="Rectangle 20"/>
          <p:cNvSpPr/>
          <p:nvPr/>
        </p:nvSpPr>
        <p:spPr>
          <a:xfrm>
            <a:off x="457200" y="2377440"/>
            <a:ext cx="1463040" cy="914400"/>
          </a:xfrm>
          <a:prstGeom prst="rect">
            <a:avLst/>
          </a:prstGeom>
          <a:solidFill>
            <a:srgbClr val="FFFFFF"/>
          </a:solidFill>
          <a:ln w="19050">
            <a:solidFill>
              <a:srgbClr val="000000"/>
            </a:solidFill>
          </a:ln>
        </p:spPr>
        <p:txBody>
          <a:bodyPr wrap="square" lIns="45720" rIns="45720" anchor="ctr">
            <a:noAutofit/>
          </a:bodyPr>
          <a:lstStyle/>
          <a:p>
            <a:pPr algn="ctr"/>
            <a:r>
              <a:rPr lang="en-US" sz="1300" b="1" dirty="0">
                <a:solidFill>
                  <a:srgbClr val="000000"/>
                </a:solidFill>
              </a:rPr>
              <a:t>Lexical Analyzer</a:t>
            </a:r>
          </a:p>
        </p:txBody>
      </p:sp>
      <p:sp>
        <p:nvSpPr>
          <p:cNvPr id="40" name="TextBox 40"/>
          <p:cNvSpPr txBox="1"/>
          <p:nvPr/>
        </p:nvSpPr>
        <p:spPr>
          <a:xfrm>
            <a:off x="457200" y="3337560"/>
            <a:ext cx="1463040" cy="365760"/>
          </a:xfrm>
          <a:prstGeom prst="rect">
            <a:avLst/>
          </a:prstGeom>
          <a:noFill/>
        </p:spPr>
        <p:txBody>
          <a:bodyPr wrap="square" lIns="0" rIns="0">
            <a:noAutofit/>
          </a:bodyPr>
          <a:lstStyle/>
          <a:p>
            <a:pPr algn="ctr"/>
            <a:r>
              <a:rPr lang="en-US" sz="1200" i="1" dirty="0"/>
              <a:t>Tokens</a:t>
            </a:r>
          </a:p>
        </p:txBody>
      </p:sp>
      <p:sp>
        <p:nvSpPr>
          <p:cNvPr id="60" name="Arrow 60"/>
          <p:cNvSpPr/>
          <p:nvPr/>
        </p:nvSpPr>
        <p:spPr>
          <a:xfrm>
            <a:off x="1947672" y="2697480"/>
            <a:ext cx="219456" cy="274320"/>
          </a:xfrm>
          <a:prstGeom prst="rightArrow">
            <a:avLst/>
          </a:prstGeom>
          <a:solidFill>
            <a:srgbClr val="FF0000"/>
          </a:solidFill>
          <a:ln>
            <a:noFill/>
          </a:ln>
        </p:spPr>
        <p:txBody>
          <a:bodyPr/>
          <a:lstStyle/>
          <a:p>
            <a:endParaRPr lang="en-US"/>
          </a:p>
        </p:txBody>
      </p:sp>
      <p:sp>
        <p:nvSpPr>
          <p:cNvPr id="21" name="Rectangle 21"/>
          <p:cNvSpPr/>
          <p:nvPr/>
        </p:nvSpPr>
        <p:spPr>
          <a:xfrm>
            <a:off x="2194560" y="2377440"/>
            <a:ext cx="1463040" cy="914400"/>
          </a:xfrm>
          <a:prstGeom prst="rect">
            <a:avLst/>
          </a:prstGeom>
          <a:solidFill>
            <a:srgbClr val="FFFFFF"/>
          </a:solidFill>
          <a:ln w="19050">
            <a:solidFill>
              <a:srgbClr val="000000"/>
            </a:solidFill>
          </a:ln>
        </p:spPr>
        <p:txBody>
          <a:bodyPr wrap="square" lIns="45720" rIns="45720" anchor="ctr">
            <a:noAutofit/>
          </a:bodyPr>
          <a:lstStyle/>
          <a:p>
            <a:pPr algn="ctr"/>
            <a:r>
              <a:rPr lang="en-US" sz="1300" b="1" dirty="0">
                <a:solidFill>
                  <a:srgbClr val="000000"/>
                </a:solidFill>
              </a:rPr>
              <a:t>Syntax Analyzer (Parser + AST)</a:t>
            </a:r>
          </a:p>
        </p:txBody>
      </p:sp>
      <p:sp>
        <p:nvSpPr>
          <p:cNvPr id="41" name="TextBox 41"/>
          <p:cNvSpPr txBox="1"/>
          <p:nvPr/>
        </p:nvSpPr>
        <p:spPr>
          <a:xfrm>
            <a:off x="2194560" y="3337560"/>
            <a:ext cx="1463040" cy="365760"/>
          </a:xfrm>
          <a:prstGeom prst="rect">
            <a:avLst/>
          </a:prstGeom>
          <a:noFill/>
        </p:spPr>
        <p:txBody>
          <a:bodyPr wrap="square" lIns="0" rIns="0">
            <a:noAutofit/>
          </a:bodyPr>
          <a:lstStyle/>
          <a:p>
            <a:pPr algn="ctr"/>
            <a:r>
              <a:rPr lang="en-US" sz="1200" i="1" dirty="0"/>
              <a:t>Parse tree / AST</a:t>
            </a:r>
          </a:p>
        </p:txBody>
      </p:sp>
      <p:sp>
        <p:nvSpPr>
          <p:cNvPr id="61" name="Arrow 61"/>
          <p:cNvSpPr/>
          <p:nvPr/>
        </p:nvSpPr>
        <p:spPr>
          <a:xfrm>
            <a:off x="3685032" y="2697480"/>
            <a:ext cx="219456" cy="274320"/>
          </a:xfrm>
          <a:prstGeom prst="rightArrow">
            <a:avLst/>
          </a:prstGeom>
          <a:solidFill>
            <a:srgbClr val="FF0000"/>
          </a:solidFill>
          <a:ln>
            <a:noFill/>
          </a:ln>
        </p:spPr>
        <p:txBody>
          <a:bodyPr/>
          <a:lstStyle/>
          <a:p>
            <a:endParaRPr lang="en-US"/>
          </a:p>
        </p:txBody>
      </p:sp>
      <p:sp>
        <p:nvSpPr>
          <p:cNvPr id="22" name="Rectangle 22"/>
          <p:cNvSpPr/>
          <p:nvPr/>
        </p:nvSpPr>
        <p:spPr>
          <a:xfrm>
            <a:off x="3931920" y="2377440"/>
            <a:ext cx="1463040" cy="914400"/>
          </a:xfrm>
          <a:prstGeom prst="rect">
            <a:avLst/>
          </a:prstGeom>
          <a:solidFill>
            <a:srgbClr val="FFFFFF"/>
          </a:solidFill>
          <a:ln w="19050">
            <a:solidFill>
              <a:srgbClr val="000000"/>
            </a:solidFill>
          </a:ln>
        </p:spPr>
        <p:txBody>
          <a:bodyPr wrap="square" lIns="45720" rIns="45720" anchor="ctr">
            <a:noAutofit/>
          </a:bodyPr>
          <a:lstStyle/>
          <a:p>
            <a:pPr algn="ctr"/>
            <a:r>
              <a:rPr lang="en-US" sz="1300" b="1" dirty="0">
                <a:solidFill>
                  <a:srgbClr val="000000"/>
                </a:solidFill>
              </a:rPr>
              <a:t>SDT and TAC Generator</a:t>
            </a:r>
          </a:p>
        </p:txBody>
      </p:sp>
      <p:sp>
        <p:nvSpPr>
          <p:cNvPr id="42" name="TextBox 42"/>
          <p:cNvSpPr txBox="1"/>
          <p:nvPr/>
        </p:nvSpPr>
        <p:spPr>
          <a:xfrm>
            <a:off x="3931920" y="3337560"/>
            <a:ext cx="1463040" cy="365760"/>
          </a:xfrm>
          <a:prstGeom prst="rect">
            <a:avLst/>
          </a:prstGeom>
          <a:noFill/>
        </p:spPr>
        <p:txBody>
          <a:bodyPr wrap="square" lIns="0" rIns="0">
            <a:noAutofit/>
          </a:bodyPr>
          <a:lstStyle/>
          <a:p>
            <a:pPr algn="ctr"/>
            <a:r>
              <a:rPr lang="en-US" sz="1200" i="1" dirty="0"/>
              <a:t>Three Address Code</a:t>
            </a:r>
          </a:p>
        </p:txBody>
      </p:sp>
      <p:sp>
        <p:nvSpPr>
          <p:cNvPr id="62" name="Arrow 62"/>
          <p:cNvSpPr/>
          <p:nvPr/>
        </p:nvSpPr>
        <p:spPr>
          <a:xfrm>
            <a:off x="5422392" y="2697480"/>
            <a:ext cx="219456" cy="274320"/>
          </a:xfrm>
          <a:prstGeom prst="rightArrow">
            <a:avLst/>
          </a:prstGeom>
          <a:solidFill>
            <a:srgbClr val="FF0000"/>
          </a:solidFill>
          <a:ln>
            <a:noFill/>
          </a:ln>
        </p:spPr>
        <p:txBody>
          <a:bodyPr/>
          <a:lstStyle/>
          <a:p>
            <a:endParaRPr lang="en-US"/>
          </a:p>
        </p:txBody>
      </p:sp>
      <p:sp>
        <p:nvSpPr>
          <p:cNvPr id="23" name="Rectangle 23"/>
          <p:cNvSpPr/>
          <p:nvPr/>
        </p:nvSpPr>
        <p:spPr>
          <a:xfrm>
            <a:off x="5669280" y="2377440"/>
            <a:ext cx="1463040" cy="914400"/>
          </a:xfrm>
          <a:prstGeom prst="rect">
            <a:avLst/>
          </a:prstGeom>
          <a:solidFill>
            <a:srgbClr val="FFFFFF"/>
          </a:solidFill>
          <a:ln w="19050">
            <a:solidFill>
              <a:srgbClr val="FF0000"/>
            </a:solidFill>
          </a:ln>
        </p:spPr>
        <p:txBody>
          <a:bodyPr wrap="square" lIns="45720" rIns="45720" anchor="ctr">
            <a:noAutofit/>
          </a:bodyPr>
          <a:lstStyle/>
          <a:p>
            <a:pPr algn="ctr"/>
            <a:r>
              <a:rPr lang="en-US" sz="1300" b="1" dirty="0">
                <a:solidFill>
                  <a:srgbClr val="FF0000"/>
                </a:solidFill>
              </a:rPr>
              <a:t>Security Analyzer</a:t>
            </a:r>
          </a:p>
        </p:txBody>
      </p:sp>
      <p:sp>
        <p:nvSpPr>
          <p:cNvPr id="43" name="TextBox 43"/>
          <p:cNvSpPr txBox="1"/>
          <p:nvPr/>
        </p:nvSpPr>
        <p:spPr>
          <a:xfrm>
            <a:off x="5669280" y="3337560"/>
            <a:ext cx="1463040" cy="365760"/>
          </a:xfrm>
          <a:prstGeom prst="rect">
            <a:avLst/>
          </a:prstGeom>
          <a:noFill/>
        </p:spPr>
        <p:txBody>
          <a:bodyPr wrap="square" lIns="0" rIns="0">
            <a:noAutofit/>
          </a:bodyPr>
          <a:lstStyle/>
          <a:p>
            <a:pPr algn="ctr"/>
            <a:r>
              <a:rPr lang="en-US" sz="1200" i="1" dirty="0"/>
              <a:t>Vulnerability report</a:t>
            </a:r>
          </a:p>
        </p:txBody>
      </p:sp>
      <p:sp>
        <p:nvSpPr>
          <p:cNvPr id="63" name="Arrow 63"/>
          <p:cNvSpPr/>
          <p:nvPr/>
        </p:nvSpPr>
        <p:spPr>
          <a:xfrm>
            <a:off x="7159752" y="2697480"/>
            <a:ext cx="219456" cy="274320"/>
          </a:xfrm>
          <a:prstGeom prst="rightArrow">
            <a:avLst/>
          </a:prstGeom>
          <a:solidFill>
            <a:srgbClr val="FF0000"/>
          </a:solidFill>
          <a:ln>
            <a:noFill/>
          </a:ln>
        </p:spPr>
        <p:txBody>
          <a:bodyPr/>
          <a:lstStyle/>
          <a:p>
            <a:endParaRPr lang="en-US"/>
          </a:p>
        </p:txBody>
      </p:sp>
      <p:sp>
        <p:nvSpPr>
          <p:cNvPr id="24" name="Rectangle 24"/>
          <p:cNvSpPr/>
          <p:nvPr/>
        </p:nvSpPr>
        <p:spPr>
          <a:xfrm>
            <a:off x="7406640" y="2377440"/>
            <a:ext cx="1463040" cy="914400"/>
          </a:xfrm>
          <a:prstGeom prst="rect">
            <a:avLst/>
          </a:prstGeom>
          <a:solidFill>
            <a:srgbClr val="FFFFFF"/>
          </a:solidFill>
          <a:ln w="19050">
            <a:solidFill>
              <a:srgbClr val="000000"/>
            </a:solidFill>
          </a:ln>
        </p:spPr>
        <p:txBody>
          <a:bodyPr wrap="square" lIns="45720" rIns="45720" anchor="ctr">
            <a:noAutofit/>
          </a:bodyPr>
          <a:lstStyle/>
          <a:p>
            <a:pPr algn="ctr"/>
            <a:r>
              <a:rPr lang="en-US" sz="1300" b="1" dirty="0">
                <a:solidFill>
                  <a:srgbClr val="000000"/>
                </a:solidFill>
              </a:rPr>
              <a:t>Code Optimizer</a:t>
            </a:r>
          </a:p>
        </p:txBody>
      </p:sp>
      <p:sp>
        <p:nvSpPr>
          <p:cNvPr id="44" name="TextBox 44"/>
          <p:cNvSpPr txBox="1"/>
          <p:nvPr/>
        </p:nvSpPr>
        <p:spPr>
          <a:xfrm>
            <a:off x="7406640" y="3337560"/>
            <a:ext cx="1463040" cy="365760"/>
          </a:xfrm>
          <a:prstGeom prst="rect">
            <a:avLst/>
          </a:prstGeom>
          <a:noFill/>
        </p:spPr>
        <p:txBody>
          <a:bodyPr wrap="square" lIns="0" rIns="0">
            <a:noAutofit/>
          </a:bodyPr>
          <a:lstStyle/>
          <a:p>
            <a:pPr algn="ctr"/>
            <a:r>
              <a:rPr lang="en-US" sz="1200" i="1" dirty="0"/>
              <a:t>Optimized TAC</a:t>
            </a:r>
          </a:p>
        </p:txBody>
      </p:sp>
      <p:sp>
        <p:nvSpPr>
          <p:cNvPr id="64" name="Arrow 64"/>
          <p:cNvSpPr/>
          <p:nvPr/>
        </p:nvSpPr>
        <p:spPr>
          <a:xfrm>
            <a:off x="8897112" y="2697480"/>
            <a:ext cx="219456" cy="274320"/>
          </a:xfrm>
          <a:prstGeom prst="rightArrow">
            <a:avLst/>
          </a:prstGeom>
          <a:solidFill>
            <a:srgbClr val="FF0000"/>
          </a:solidFill>
          <a:ln>
            <a:noFill/>
          </a:ln>
        </p:spPr>
        <p:txBody>
          <a:bodyPr/>
          <a:lstStyle/>
          <a:p>
            <a:endParaRPr lang="en-US"/>
          </a:p>
        </p:txBody>
      </p:sp>
      <p:sp>
        <p:nvSpPr>
          <p:cNvPr id="25" name="Rectangle 25"/>
          <p:cNvSpPr/>
          <p:nvPr/>
        </p:nvSpPr>
        <p:spPr>
          <a:xfrm>
            <a:off x="9144000" y="2377440"/>
            <a:ext cx="1463040" cy="914400"/>
          </a:xfrm>
          <a:prstGeom prst="rect">
            <a:avLst/>
          </a:prstGeom>
          <a:solidFill>
            <a:srgbClr val="FFFFFF"/>
          </a:solidFill>
          <a:ln w="19050">
            <a:solidFill>
              <a:srgbClr val="000000"/>
            </a:solidFill>
          </a:ln>
        </p:spPr>
        <p:txBody>
          <a:bodyPr wrap="square" lIns="45720" rIns="45720" anchor="ctr">
            <a:noAutofit/>
          </a:bodyPr>
          <a:lstStyle/>
          <a:p>
            <a:pPr algn="ctr"/>
            <a:r>
              <a:rPr lang="en-US" sz="1300" b="1" dirty="0">
                <a:solidFill>
                  <a:srgbClr val="000000"/>
                </a:solidFill>
              </a:rPr>
              <a:t>Code Generator</a:t>
            </a:r>
          </a:p>
        </p:txBody>
      </p:sp>
      <p:sp>
        <p:nvSpPr>
          <p:cNvPr id="45" name="TextBox 45"/>
          <p:cNvSpPr txBox="1"/>
          <p:nvPr/>
        </p:nvSpPr>
        <p:spPr>
          <a:xfrm>
            <a:off x="9144000" y="3337560"/>
            <a:ext cx="1463040" cy="365760"/>
          </a:xfrm>
          <a:prstGeom prst="rect">
            <a:avLst/>
          </a:prstGeom>
          <a:noFill/>
        </p:spPr>
        <p:txBody>
          <a:bodyPr wrap="square" lIns="0" rIns="0">
            <a:noAutofit/>
          </a:bodyPr>
          <a:lstStyle/>
          <a:p>
            <a:pPr algn="ctr"/>
            <a:r>
              <a:rPr lang="en-US" sz="1200" i="1" dirty="0"/>
              <a:t>Target code</a:t>
            </a:r>
          </a:p>
        </p:txBody>
      </p:sp>
      <p:sp>
        <p:nvSpPr>
          <p:cNvPr id="70" name="Arrow 70"/>
          <p:cNvSpPr/>
          <p:nvPr/>
        </p:nvSpPr>
        <p:spPr>
          <a:xfrm>
            <a:off x="1188720" y="2057400"/>
            <a:ext cx="274320" cy="320040"/>
          </a:xfrm>
          <a:prstGeom prst="downArrow">
            <a:avLst/>
          </a:prstGeom>
          <a:solidFill>
            <a:srgbClr val="FF0000"/>
          </a:solidFill>
          <a:ln>
            <a:noFill/>
          </a:ln>
        </p:spPr>
        <p:txBody>
          <a:bodyPr/>
          <a:lstStyle/>
          <a:p>
            <a:endParaRPr lang="en-US"/>
          </a:p>
        </p:txBody>
      </p:sp>
      <p:sp>
        <p:nvSpPr>
          <p:cNvPr id="80" name="Rectangle 80"/>
          <p:cNvSpPr/>
          <p:nvPr/>
        </p:nvSpPr>
        <p:spPr>
          <a:xfrm>
            <a:off x="457200" y="4114800"/>
            <a:ext cx="5394960" cy="548640"/>
          </a:xfrm>
          <a:prstGeom prst="rect">
            <a:avLst/>
          </a:prstGeom>
          <a:solidFill>
            <a:srgbClr val="FFFFFF"/>
          </a:solidFill>
          <a:ln w="19050">
            <a:solidFill>
              <a:srgbClr val="000000"/>
            </a:solidFill>
          </a:ln>
        </p:spPr>
        <p:txBody>
          <a:bodyPr wrap="square" lIns="45720" rIns="45720" anchor="ctr">
            <a:noAutofit/>
          </a:bodyPr>
          <a:lstStyle/>
          <a:p>
            <a:pPr algn="ctr"/>
            <a:r>
              <a:rPr lang="en-US" sz="1300" b="0" dirty="0">
                <a:solidFill>
                  <a:srgbClr val="000000"/>
                </a:solidFill>
              </a:rPr>
              <a:t>Symbol Table (used by all phases)</a:t>
            </a:r>
          </a:p>
        </p:txBody>
      </p:sp>
      <p:sp>
        <p:nvSpPr>
          <p:cNvPr id="81" name="Rectangle 81"/>
          <p:cNvSpPr/>
          <p:nvPr/>
        </p:nvSpPr>
        <p:spPr>
          <a:xfrm>
            <a:off x="6035040" y="4114800"/>
            <a:ext cx="5394960" cy="548640"/>
          </a:xfrm>
          <a:prstGeom prst="rect">
            <a:avLst/>
          </a:prstGeom>
          <a:solidFill>
            <a:srgbClr val="FFFFFF"/>
          </a:solidFill>
          <a:ln w="19050">
            <a:solidFill>
              <a:srgbClr val="000000"/>
            </a:solidFill>
          </a:ln>
        </p:spPr>
        <p:txBody>
          <a:bodyPr wrap="square" lIns="45720" rIns="45720" anchor="ctr">
            <a:noAutofit/>
          </a:bodyPr>
          <a:lstStyle/>
          <a:p>
            <a:pPr algn="ctr"/>
            <a:r>
              <a:rPr lang="en-US" sz="1300" b="0" dirty="0">
                <a:solidFill>
                  <a:srgbClr val="000000"/>
                </a:solidFill>
              </a:rPr>
              <a:t>Error Handler (lexical, syntax, semantic errors)</a:t>
            </a:r>
          </a:p>
        </p:txBody>
      </p:sp>
      <p:sp>
        <p:nvSpPr>
          <p:cNvPr id="82" name="Rectangle 82"/>
          <p:cNvSpPr/>
          <p:nvPr/>
        </p:nvSpPr>
        <p:spPr>
          <a:xfrm>
            <a:off x="457200" y="4937760"/>
            <a:ext cx="10972800" cy="822960"/>
          </a:xfrm>
          <a:prstGeom prst="rect">
            <a:avLst/>
          </a:prstGeom>
          <a:solidFill>
            <a:srgbClr val="FFFFFF"/>
          </a:solidFill>
          <a:ln w="19050">
            <a:solidFill>
              <a:srgbClr val="000000"/>
            </a:solidFill>
          </a:ln>
        </p:spPr>
        <p:txBody>
          <a:bodyPr wrap="square" lIns="45720" rIns="45720" anchor="ctr">
            <a:noAutofit/>
          </a:bodyPr>
          <a:lstStyle/>
          <a:p>
            <a:pPr algn="ctr"/>
            <a:r>
              <a:rPr lang="en-US" sz="1400" b="1" dirty="0">
                <a:solidFill>
                  <a:srgbClr val="000000"/>
                </a:solidFill>
              </a:rPr>
              <a:t>User Interface: Tokens | Syntax result | AST | TAC | Security warnings | Optimized code | Target code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406" y="238805"/>
            <a:ext cx="10515600" cy="1325563"/>
          </a:xfrm>
        </p:spPr>
        <p:txBody>
          <a:bodyPr>
            <a:normAutofit/>
          </a:bodyPr>
          <a:lstStyle/>
          <a:p>
            <a:r>
              <a:rPr lang="en-US" sz="4000" b="1" dirty="0"/>
              <a:t>System S/w &amp; H/w</a:t>
            </a:r>
          </a:p>
        </p:txBody>
      </p:sp>
      <p:sp>
        <p:nvSpPr>
          <p:cNvPr id="3" name="Content Placeholder 2"/>
          <p:cNvSpPr>
            <a:spLocks noGrp="1"/>
          </p:cNvSpPr>
          <p:nvPr>
            <p:ph idx="1"/>
          </p:nvPr>
        </p:nvSpPr>
        <p:spPr>
          <a:xfrm>
            <a:off x="742406" y="1564368"/>
            <a:ext cx="10515600" cy="4351338"/>
          </a:xfrm>
        </p:spPr>
        <p:txBody>
          <a:bodyPr>
            <a:noAutofit/>
          </a:bodyPr>
          <a:lstStyle/>
          <a:p>
            <a:pPr algn="just">
              <a:spcBef>
                <a:spcPts val="600"/>
              </a:spcBef>
            </a:pPr>
            <a:r>
              <a:rPr lang="en-US" b="1" dirty="0"/>
              <a:t>Software Requirements</a:t>
            </a:r>
          </a:p>
          <a:p>
            <a:pPr algn="just">
              <a:spcBef>
                <a:spcPts val="600"/>
              </a:spcBef>
            </a:pPr>
            <a:r>
              <a:rPr lang="en-US" b="1" dirty="0"/>
              <a:t>Operating System: </a:t>
            </a:r>
            <a:r>
              <a:rPr lang="en-US" dirty="0"/>
              <a:t>Windows 10/11 or Ubuntu Linux</a:t>
            </a:r>
          </a:p>
          <a:p>
            <a:pPr algn="just">
              <a:spcBef>
                <a:spcPts val="600"/>
              </a:spcBef>
            </a:pPr>
            <a:r>
              <a:rPr lang="en-US" b="1" dirty="0"/>
              <a:t>Language: </a:t>
            </a:r>
            <a:r>
              <a:rPr lang="en-US" dirty="0"/>
              <a:t>Python 3.x</a:t>
            </a:r>
          </a:p>
          <a:p>
            <a:pPr algn="just">
              <a:spcBef>
                <a:spcPts val="600"/>
              </a:spcBef>
            </a:pPr>
            <a:r>
              <a:rPr lang="en-US" b="1" dirty="0"/>
              <a:t>Lexer / Parser: </a:t>
            </a:r>
            <a:r>
              <a:rPr lang="en-US" dirty="0"/>
              <a:t>PLY (Lex/Yacc for Python) or hand-written recursive descent</a:t>
            </a:r>
          </a:p>
          <a:p>
            <a:pPr algn="just">
              <a:spcBef>
                <a:spcPts val="600"/>
              </a:spcBef>
            </a:pPr>
            <a:r>
              <a:rPr lang="en-US" b="1" dirty="0"/>
              <a:t>Interface: </a:t>
            </a:r>
            <a:r>
              <a:rPr lang="en-US" dirty="0"/>
              <a:t>Tkinter or web-based front end; Graphviz for AST display</a:t>
            </a:r>
          </a:p>
          <a:p>
            <a:pPr algn="just">
              <a:spcBef>
                <a:spcPts val="600"/>
              </a:spcBef>
            </a:pPr>
            <a:r>
              <a:rPr lang="en-US" b="1" dirty="0"/>
              <a:t>Hardware Requirements</a:t>
            </a:r>
          </a:p>
          <a:p>
            <a:pPr algn="just">
              <a:spcBef>
                <a:spcPts val="600"/>
              </a:spcBef>
            </a:pPr>
            <a:r>
              <a:rPr lang="en-US" b="1" dirty="0"/>
              <a:t>Processor: </a:t>
            </a:r>
            <a:r>
              <a:rPr lang="en-US" dirty="0"/>
              <a:t>Intel Core i3 or above (i5 recommended)</a:t>
            </a:r>
          </a:p>
          <a:p>
            <a:pPr algn="just">
              <a:spcBef>
                <a:spcPts val="600"/>
              </a:spcBef>
            </a:pPr>
            <a:r>
              <a:rPr lang="en-US" b="1" dirty="0"/>
              <a:t>RAM: </a:t>
            </a:r>
            <a:r>
              <a:rPr lang="en-US" dirty="0"/>
              <a:t>4 GB minimum, 8 GB recommended</a:t>
            </a:r>
          </a:p>
          <a:p>
            <a:pPr algn="just">
              <a:spcBef>
                <a:spcPts val="600"/>
              </a:spcBef>
            </a:pPr>
            <a:r>
              <a:rPr lang="en-US" b="1" dirty="0"/>
              <a:t>Storage: </a:t>
            </a:r>
            <a:r>
              <a:rPr lang="en-US" dirty="0"/>
              <a:t>500 MB free disk space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2737" y="365125"/>
            <a:ext cx="10515600" cy="1325563"/>
          </a:xfrm>
        </p:spPr>
        <p:txBody>
          <a:bodyPr>
            <a:normAutofit/>
          </a:bodyPr>
          <a:lstStyle/>
          <a:p>
            <a:r>
              <a:rPr lang="en-US" sz="4000" b="1" dirty="0"/>
              <a:t>Conclusion</a:t>
            </a:r>
          </a:p>
        </p:txBody>
      </p:sp>
      <p:sp>
        <p:nvSpPr>
          <p:cNvPr id="3" name="Content Placeholder 2"/>
          <p:cNvSpPr>
            <a:spLocks noGrp="1"/>
          </p:cNvSpPr>
          <p:nvPr>
            <p:ph idx="1"/>
          </p:nvPr>
        </p:nvSpPr>
        <p:spPr>
          <a:xfrm>
            <a:off x="585651" y="1690688"/>
            <a:ext cx="10515600" cy="4351338"/>
          </a:xfrm>
        </p:spPr>
        <p:txBody>
          <a:bodyPr>
            <a:normAutofit/>
          </a:bodyPr>
          <a:lstStyle/>
          <a:p>
            <a:pPr algn="just">
              <a:spcBef>
                <a:spcPts val="1200"/>
              </a:spcBef>
            </a:pPr>
            <a:r>
              <a:rPr lang="en-US" dirty="0"/>
              <a:t>CodeShield shows that a compiler pipeline can find security vulnerabilities as well as translate code.</a:t>
            </a:r>
          </a:p>
          <a:p>
            <a:pPr algn="just">
              <a:spcBef>
                <a:spcPts val="1200"/>
              </a:spcBef>
            </a:pPr>
            <a:r>
              <a:rPr lang="en-US" dirty="0"/>
              <a:t>It applies core Compiler Design concepts: lexical analysis, parsing, AST, syntax-directed translation, TAC, data-flow analysis, optimization and code generation.</a:t>
            </a:r>
          </a:p>
          <a:p>
            <a:pPr algn="just">
              <a:spcBef>
                <a:spcPts val="1200"/>
              </a:spcBef>
            </a:pPr>
            <a:r>
              <a:rPr lang="en-US" dirty="0"/>
              <a:t>Each detected issue is reported with its location, type, severity and mitigation advice.</a:t>
            </a:r>
          </a:p>
          <a:p>
            <a:pPr algn="just">
              <a:spcBef>
                <a:spcPts val="1200"/>
              </a:spcBef>
            </a:pPr>
            <a:r>
              <a:rPr lang="en-US" dirty="0"/>
              <a:t>Early detection combined with optimization promotes secure and efficient code generation.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109" y="296929"/>
            <a:ext cx="10515600" cy="1325563"/>
          </a:xfrm>
        </p:spPr>
        <p:txBody>
          <a:bodyPr>
            <a:normAutofit/>
          </a:bodyPr>
          <a:lstStyle/>
          <a:p>
            <a:r>
              <a:rPr lang="en-US" sz="4000" b="1" dirty="0"/>
              <a:t>References</a:t>
            </a:r>
          </a:p>
        </p:txBody>
      </p:sp>
      <p:sp>
        <p:nvSpPr>
          <p:cNvPr id="3" name="Content Placeholder 2"/>
          <p:cNvSpPr>
            <a:spLocks noGrp="1"/>
          </p:cNvSpPr>
          <p:nvPr>
            <p:ph idx="1"/>
          </p:nvPr>
        </p:nvSpPr>
        <p:spPr>
          <a:xfrm>
            <a:off x="542109" y="1546951"/>
            <a:ext cx="10515600" cy="4351338"/>
          </a:xfrm>
        </p:spPr>
        <p:txBody>
          <a:bodyPr>
            <a:noAutofit/>
          </a:bodyPr>
          <a:lstStyle/>
          <a:p>
            <a:pPr marL="0" indent="0">
              <a:spcBef>
                <a:spcPts val="800"/>
              </a:spcBef>
              <a:buNone/>
            </a:pPr>
            <a:r>
              <a:rPr lang="en-US" sz="2400" dirty="0"/>
              <a:t>[1] A. V. Aho, M. S. Lam, R. Sethi and J. D. Ullman, Compilers: Principles, Techniques, and Tools, 2nd ed. Pearson, 2006.</a:t>
            </a:r>
          </a:p>
          <a:p>
            <a:pPr marL="0" indent="0">
              <a:spcBef>
                <a:spcPts val="800"/>
              </a:spcBef>
              <a:buNone/>
            </a:pPr>
            <a:r>
              <a:rPr lang="en-US" sz="2400" dirty="0"/>
              <a:t>[2] K. D. Cooper and L. Torczon, Engineering a Compiler, 2nd ed. Morgan Kaufmann, 2011.</a:t>
            </a:r>
          </a:p>
          <a:p>
            <a:pPr marL="0" indent="0">
              <a:spcBef>
                <a:spcPts val="800"/>
              </a:spcBef>
              <a:buNone/>
            </a:pPr>
            <a:r>
              <a:rPr lang="en-US" sz="2400" dirty="0"/>
              <a:t>[3] B. Chess and G. McGraw, "Static analysis for security," IEEE Security &amp; Privacy, vol. 2, no. 6, pp. 76-79, 2004.</a:t>
            </a:r>
          </a:p>
          <a:p>
            <a:pPr marL="0" indent="0">
              <a:spcBef>
                <a:spcPts val="800"/>
              </a:spcBef>
              <a:buNone/>
            </a:pPr>
            <a:r>
              <a:rPr lang="en-US" sz="2400" dirty="0"/>
              <a:t>[4] D. E. Denning, "A lattice model of secure information flow," Communications of the ACM, vol. 19, no. 5, pp. 236-243, 1976.</a:t>
            </a:r>
          </a:p>
          <a:p>
            <a:pPr marL="0" indent="0">
              <a:spcBef>
                <a:spcPts val="800"/>
              </a:spcBef>
              <a:buNone/>
            </a:pPr>
            <a:r>
              <a:rPr lang="en-US" sz="2400" dirty="0"/>
              <a:t>[5] V. B. Livshits and M. S. Lam, "Finding security vulnerabilities in Java applications with static analysis," in Proc. USENIX Security Symposium, 2005.</a:t>
            </a:r>
          </a:p>
          <a:p>
            <a:pPr marL="0" indent="0">
              <a:spcBef>
                <a:spcPts val="800"/>
              </a:spcBef>
              <a:buNone/>
            </a:pPr>
            <a:r>
              <a:rPr lang="en-US" sz="2400" dirty="0"/>
              <a:t>[6] W. G. J. Halfond, J. Viegas and A. Orso, "A classification of SQL-injection attacks and countermeasures," in Proc. IEEE Int. Symp. on Secure Software Engineering, 2006.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1228</Words>
  <Application>Microsoft Office PowerPoint</Application>
  <PresentationFormat>Widescreen</PresentationFormat>
  <Paragraphs>71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       Contents:  1. Abstract 2. Introduction 3. Literature Survey 4. Objectives 5. Proposed Methodology 6. Architecture of Proposed Methodology 7. System S/w &amp; H/w 8. Conclusion 9. References</vt:lpstr>
      <vt:lpstr>Abstract</vt:lpstr>
      <vt:lpstr>Introduction</vt:lpstr>
      <vt:lpstr>Literature Survey</vt:lpstr>
      <vt:lpstr>Objectives</vt:lpstr>
      <vt:lpstr>Proposed Methodology</vt:lpstr>
      <vt:lpstr>Architecture of Proposed Methodology</vt:lpstr>
      <vt:lpstr>System S/w &amp; H/w</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akshara reddy</dc:creator>
  <cp:lastModifiedBy>Divya sri</cp:lastModifiedBy>
  <cp:revision>5</cp:revision>
  <dcterms:created xsi:type="dcterms:W3CDTF">2026-09-19T04:56:59Z</dcterms:created>
  <dcterms:modified xsi:type="dcterms:W3CDTF">2026-09-21T09:40:04Z</dcterms:modified>
</cp:coreProperties>
</file>